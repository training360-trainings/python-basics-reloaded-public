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71" r:id="rId7"/>
    <p:sldId id="260" r:id="rId8"/>
    <p:sldId id="272" r:id="rId9"/>
    <p:sldId id="261" r:id="rId10"/>
    <p:sldId id="273" r:id="rId11"/>
    <p:sldId id="262" r:id="rId12"/>
    <p:sldId id="274" r:id="rId13"/>
    <p:sldId id="263" r:id="rId14"/>
    <p:sldId id="275" r:id="rId15"/>
    <p:sldId id="264" r:id="rId16"/>
    <p:sldId id="276" r:id="rId17"/>
    <p:sldId id="265" r:id="rId18"/>
    <p:sldId id="277" r:id="rId19"/>
    <p:sldId id="266" r:id="rId20"/>
    <p:sldId id="278" r:id="rId21"/>
    <p:sldId id="267" r:id="rId22"/>
    <p:sldId id="279" r:id="rId23"/>
    <p:sldId id="268" r:id="rId24"/>
    <p:sldId id="280" r:id="rId25"/>
    <p:sldId id="269" r:id="rId2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8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2EBD92-BD7B-8C97-9B1F-136455E4D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8C24B5D-A0C6-9407-3E3F-16A38411A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BB4479F-8A3B-08D5-BE7F-57952E8A2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F654-D2C6-4A32-849D-6BE925CD676B}" type="datetimeFigureOut">
              <a:rPr lang="hu-HU" smtClean="0"/>
              <a:t>2023. 06. 20.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1557C00-16AB-F1E1-47E7-1AAD0335F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0F7CF51-9367-C2F2-549B-08841624C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29603-C351-42FA-9DF5-3DAF4FCBC75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9110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0357BE-DD87-07CB-7512-684D6F597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1A2753-4311-FC68-17A0-3B0AD549D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6E47D65-B2DA-E4ED-7CF5-94FB48E22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F654-D2C6-4A32-849D-6BE925CD676B}" type="datetimeFigureOut">
              <a:rPr lang="hu-HU" smtClean="0"/>
              <a:t>2023. 06. 20.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95CD8E9-8EEF-D5CC-B138-3FE37D0FB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D09A95B-84B0-0771-1F4E-CA84BF7A9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29603-C351-42FA-9DF5-3DAF4FCBC75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86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9847A0-1047-6AB7-7570-D41893DB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868CF76-8F16-DFA7-9CF8-489C39B86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C720F02-A2E1-A6FB-3855-7B338E957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F654-D2C6-4A32-849D-6BE925CD676B}" type="datetimeFigureOut">
              <a:rPr lang="hu-HU" smtClean="0"/>
              <a:t>2023. 06. 20.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16C43BB-BD03-0D16-DAB1-05995FB9C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000C2D5-8287-693C-22B5-53045FA9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29603-C351-42FA-9DF5-3DAF4FCBC75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94442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9421D5-134B-0B62-9980-07DB8C6F6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E6AAF7E-0BEE-471A-A487-26E340CE71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604E1F3-8C8F-4461-89B3-6AA5AFD01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E43162C-951A-D810-AEBE-BA7C047CC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F654-D2C6-4A32-849D-6BE925CD676B}" type="datetimeFigureOut">
              <a:rPr lang="hu-HU" smtClean="0"/>
              <a:t>2023. 06. 20.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20562F3-E5B2-97F6-617B-B08D689C0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95E66E4-45A8-8391-919C-BB305BB63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29603-C351-42FA-9DF5-3DAF4FCBC75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861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CF5158-6F74-3F2E-DDBC-6E50F2294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CEFF87F-D249-2156-DA4E-ADB566D1E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98BDE43-8D34-84B1-0F62-0BAE43A28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38F219A-A072-19C8-521B-38BDDFC08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8B3BE2F-43B1-31BD-5DD2-2B5D06C457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F8DAE750-A631-C4DA-29A6-342CBAE0F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F654-D2C6-4A32-849D-6BE925CD676B}" type="datetimeFigureOut">
              <a:rPr lang="hu-HU" smtClean="0"/>
              <a:t>2023. 06. 20.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A055E445-93AC-ABB2-07E0-C56E0CBA8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448EEE0-6141-449D-774C-630C80B20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29603-C351-42FA-9DF5-3DAF4FCBC75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562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830C62-301D-46C4-6E28-3B76D0D33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03BD22C0-7728-F2DC-B661-9F8739AEC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F654-D2C6-4A32-849D-6BE925CD676B}" type="datetimeFigureOut">
              <a:rPr lang="hu-HU" smtClean="0"/>
              <a:t>2023. 06. 20.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314B5F7-3112-68C3-6770-67EF28F2E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01A8002-AE39-8426-5D7B-0F70BDED4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29603-C351-42FA-9DF5-3DAF4FCBC75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6412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94FA03D4-A549-6B43-FA2C-F059CE8FC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F654-D2C6-4A32-849D-6BE925CD676B}" type="datetimeFigureOut">
              <a:rPr lang="hu-HU" smtClean="0"/>
              <a:t>2023. 06. 20.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755308AC-0A77-F3AD-9084-0E89A356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2C6C503-C69B-7202-93C1-A76816684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29603-C351-42FA-9DF5-3DAF4FCBC75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4255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98A804-0D8D-BEB3-D3E8-2A52BBE02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0A9F09C-910A-E5FF-9FEB-D25EC40CE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0E6887B-D86B-1AD5-0341-BA7F9A96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7F50598-8AED-C435-F940-493B8B579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F654-D2C6-4A32-849D-6BE925CD676B}" type="datetimeFigureOut">
              <a:rPr lang="hu-HU" smtClean="0"/>
              <a:t>2023. 06. 20.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6A860F9-5D8F-E27C-A182-986D7D398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1110DFA-46F5-7EB5-8873-4E295E64A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29603-C351-42FA-9DF5-3DAF4FCBC75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5263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96D6B6E-ECF4-E979-5F32-76A0698C1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0A346D6-A7E2-3E55-00D6-B08FA7D542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44BD18F-29F6-1A20-93F5-27987EE9B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37F9871-C468-4738-A439-E2A4C973A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F654-D2C6-4A32-849D-6BE925CD676B}" type="datetimeFigureOut">
              <a:rPr lang="hu-HU" smtClean="0"/>
              <a:t>2023. 06. 20.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01F04D4-D543-09BF-58BC-44BD51A1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5842A9E-D9F4-06D2-94B1-7D69B891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29603-C351-42FA-9DF5-3DAF4FCBC75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5609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280685-5801-C027-144F-B11C9F551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48FE457-96C2-7AE0-9738-279C44D77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666DDCF-62D3-6D44-F018-4B2137C6B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F654-D2C6-4A32-849D-6BE925CD676B}" type="datetimeFigureOut">
              <a:rPr lang="hu-HU" smtClean="0"/>
              <a:t>2023. 06. 20.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3A9A6CB-79BE-8011-9699-FE346CCE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029EAB9-355A-A35D-083C-8A0453155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29603-C351-42FA-9DF5-3DAF4FCBC75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870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FFF38C8-F81B-DB55-A38E-25315F845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0B655E9-C934-D746-2BE0-6CAF1674A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5351FE3-CCA2-67A1-D105-C5264E6D0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F654-D2C6-4A32-849D-6BE925CD676B}" type="datetimeFigureOut">
              <a:rPr lang="hu-HU" smtClean="0"/>
              <a:t>2023. 06. 20.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C8C12E9-6D5C-84BD-C300-87294978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2D7A2BC-BF4B-EDF0-049D-0A579B3E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29603-C351-42FA-9DF5-3DAF4FCBC75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23824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2DA5F9D3-E0F2-95FA-8731-BC95B5667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5781668-F715-E620-2A62-4B72D3713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CF9FA29-7BDD-1A92-6B8E-BA8A5FC41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5F654-D2C6-4A32-849D-6BE925CD676B}" type="datetimeFigureOut">
              <a:rPr lang="hu-HU" smtClean="0"/>
              <a:t>2023. 06. 20.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53644FC-41E1-038D-35A1-158C9112E8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AA6CF90-5912-3FA4-EF52-3062D2E42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29603-C351-42FA-9DF5-3DAF4FCBC75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4575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32712C-B29E-158D-5A26-E9213D8EE7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Python alapok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56BA9C3-D366-1D50-6D0B-C541CBFC37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6113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E45071-3E91-3975-958C-43782E39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Miről lesz szó?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52A367-7627-7B81-0E00-66AB83DC9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dirty="0"/>
              <a:t>A Python nyelv, fejlesztő környezet, számok és operátorok</a:t>
            </a:r>
          </a:p>
          <a:p>
            <a:r>
              <a:rPr lang="hu-HU" dirty="0"/>
              <a:t>Alap adattípusok, operátorok</a:t>
            </a:r>
          </a:p>
          <a:p>
            <a:r>
              <a:rPr lang="hu-HU" dirty="0"/>
              <a:t>A </a:t>
            </a:r>
            <a:r>
              <a:rPr lang="hu-HU" dirty="0" err="1"/>
              <a:t>list</a:t>
            </a:r>
            <a:r>
              <a:rPr lang="hu-HU" dirty="0"/>
              <a:t> konténer típus, ciklusok</a:t>
            </a:r>
          </a:p>
          <a:p>
            <a:r>
              <a:rPr lang="hu-HU" dirty="0" err="1"/>
              <a:t>if</a:t>
            </a:r>
            <a:r>
              <a:rPr lang="hu-HU" dirty="0"/>
              <a:t> </a:t>
            </a:r>
            <a:r>
              <a:rPr lang="hu-HU" dirty="0" err="1"/>
              <a:t>else</a:t>
            </a:r>
            <a:r>
              <a:rPr lang="hu-HU" dirty="0"/>
              <a:t> vezérlési szerkezet, vezérlési szerkezetek egymásba ágyazása</a:t>
            </a:r>
          </a:p>
          <a:p>
            <a:r>
              <a:rPr lang="hu-HU" dirty="0"/>
              <a:t>Listák kezelésének haladó technikái</a:t>
            </a:r>
          </a:p>
          <a:p>
            <a:r>
              <a:rPr lang="hu-HU" dirty="0"/>
              <a:t>Függvények</a:t>
            </a:r>
          </a:p>
          <a:p>
            <a:r>
              <a:rPr lang="hu-HU" dirty="0"/>
              <a:t>Nevezetes algoritmusok</a:t>
            </a:r>
          </a:p>
          <a:p>
            <a:r>
              <a:rPr lang="hu-HU" dirty="0"/>
              <a:t>A </a:t>
            </a:r>
            <a:r>
              <a:rPr lang="hu-HU" dirty="0" err="1"/>
              <a:t>tuple</a:t>
            </a:r>
            <a:r>
              <a:rPr lang="hu-HU" dirty="0"/>
              <a:t> és a </a:t>
            </a:r>
            <a:r>
              <a:rPr lang="hu-HU" dirty="0" err="1"/>
              <a:t>set</a:t>
            </a:r>
            <a:r>
              <a:rPr lang="hu-HU" dirty="0"/>
              <a:t> konténer típusok</a:t>
            </a:r>
          </a:p>
          <a:p>
            <a:r>
              <a:rPr lang="hu-HU" dirty="0"/>
              <a:t>A </a:t>
            </a:r>
            <a:r>
              <a:rPr lang="hu-HU" dirty="0" err="1"/>
              <a:t>dict</a:t>
            </a:r>
            <a:r>
              <a:rPr lang="hu-HU" dirty="0"/>
              <a:t> konténer típus, CRUD műveletek</a:t>
            </a:r>
          </a:p>
          <a:p>
            <a:r>
              <a:rPr lang="hu-HU" dirty="0"/>
              <a:t>A Python modulrendszere, standard </a:t>
            </a:r>
            <a:r>
              <a:rPr lang="hu-HU" dirty="0" err="1"/>
              <a:t>library</a:t>
            </a:r>
            <a:endParaRPr lang="hu-HU" dirty="0"/>
          </a:p>
          <a:p>
            <a:r>
              <a:rPr lang="hu-HU" dirty="0"/>
              <a:t>Fájlkezelés</a:t>
            </a:r>
          </a:p>
          <a:p>
            <a:r>
              <a:rPr lang="hu-HU" dirty="0"/>
              <a:t>Összetett feladat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38987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E45071-3E91-3975-958C-43782E39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Python nyelv, fejlesztő környezet, számok és operátorok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52A367-7627-7B81-0E00-66AB83DC9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62187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9">
            <a:extLst>
              <a:ext uri="{FF2B5EF4-FFF2-40B4-BE49-F238E27FC236}">
                <a16:creationId xmlns:a16="http://schemas.microsoft.com/office/drawing/2014/main" id="{026B303C-F00B-C202-DACD-409846B5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A Python nyelv, fejlesztő környezet, számok és operátorok</a:t>
            </a:r>
          </a:p>
        </p:txBody>
      </p:sp>
      <p:sp>
        <p:nvSpPr>
          <p:cNvPr id="11" name="Tartalom helye 10">
            <a:extLst>
              <a:ext uri="{FF2B5EF4-FFF2-40B4-BE49-F238E27FC236}">
                <a16:creationId xmlns:a16="http://schemas.microsoft.com/office/drawing/2014/main" id="{1304DAAD-A571-195A-29C9-8BA795B1C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/>
              <a:t>A programozási nyelvekről</a:t>
            </a:r>
          </a:p>
          <a:p>
            <a:r>
              <a:rPr lang="hu-HU" dirty="0"/>
              <a:t>A </a:t>
            </a:r>
            <a:r>
              <a:rPr lang="hu-HU" dirty="0" err="1"/>
              <a:t>python</a:t>
            </a:r>
            <a:r>
              <a:rPr lang="hu-HU" dirty="0"/>
              <a:t> bemutatása, használhatósága, TIOBE index</a:t>
            </a:r>
          </a:p>
          <a:p>
            <a:r>
              <a:rPr lang="hu-HU" dirty="0"/>
              <a:t>A Python telepítése, környezeti változók</a:t>
            </a:r>
          </a:p>
          <a:p>
            <a:r>
              <a:rPr lang="hu-HU" dirty="0" err="1"/>
              <a:t>Interpreteres</a:t>
            </a:r>
            <a:r>
              <a:rPr lang="hu-HU" dirty="0"/>
              <a:t> </a:t>
            </a:r>
            <a:r>
              <a:rPr lang="hu-HU" dirty="0" err="1"/>
              <a:t>vs</a:t>
            </a:r>
            <a:r>
              <a:rPr lang="hu-HU" dirty="0"/>
              <a:t> </a:t>
            </a:r>
            <a:r>
              <a:rPr lang="hu-HU" dirty="0" err="1"/>
              <a:t>Compileres</a:t>
            </a:r>
            <a:r>
              <a:rPr lang="hu-HU" dirty="0"/>
              <a:t> nyelvek, bájtkód, implementációk</a:t>
            </a:r>
          </a:p>
          <a:p>
            <a:r>
              <a:rPr lang="hu-HU" dirty="0"/>
              <a:t>A parancssor, REPL</a:t>
            </a:r>
          </a:p>
          <a:p>
            <a:r>
              <a:rPr lang="hu-HU" dirty="0"/>
              <a:t>Az IDLE használata</a:t>
            </a:r>
          </a:p>
          <a:p>
            <a:r>
              <a:rPr lang="hu-HU" dirty="0"/>
              <a:t>Fejlesztőeszközök: </a:t>
            </a:r>
            <a:r>
              <a:rPr lang="hu-HU" dirty="0" err="1"/>
              <a:t>PyCharm</a:t>
            </a:r>
            <a:r>
              <a:rPr lang="hu-HU" dirty="0"/>
              <a:t> és </a:t>
            </a:r>
            <a:r>
              <a:rPr lang="hu-HU" dirty="0" err="1"/>
              <a:t>VSCode</a:t>
            </a:r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VSCode</a:t>
            </a:r>
            <a:r>
              <a:rPr lang="hu-HU" dirty="0"/>
              <a:t> telepítése, beállítása, </a:t>
            </a:r>
            <a:r>
              <a:rPr lang="hu-HU" dirty="0" err="1"/>
              <a:t>extensionök</a:t>
            </a:r>
            <a:endParaRPr lang="hu-HU" dirty="0"/>
          </a:p>
          <a:p>
            <a:r>
              <a:rPr lang="hu-HU" dirty="0"/>
              <a:t>Forráskód Python fájlok, kód futtatása</a:t>
            </a:r>
          </a:p>
          <a:p>
            <a:r>
              <a:rPr lang="hu-HU" dirty="0"/>
              <a:t>A </a:t>
            </a:r>
            <a:r>
              <a:rPr lang="hu-HU" dirty="0" err="1"/>
              <a:t>python</a:t>
            </a:r>
            <a:r>
              <a:rPr lang="hu-HU" dirty="0"/>
              <a:t> alap adattípusai, A programozási nyelvek szintaktikája</a:t>
            </a:r>
          </a:p>
          <a:p>
            <a:r>
              <a:rPr lang="hu-HU" dirty="0"/>
              <a:t>Számok: az int típus, a print() függvény, literálok, a </a:t>
            </a:r>
            <a:r>
              <a:rPr lang="hu-HU" dirty="0" err="1"/>
              <a:t>type</a:t>
            </a:r>
            <a:r>
              <a:rPr lang="hu-HU" dirty="0"/>
              <a:t>() függvény</a:t>
            </a:r>
          </a:p>
          <a:p>
            <a:r>
              <a:rPr lang="hu-HU" dirty="0"/>
              <a:t>Számok: a </a:t>
            </a:r>
            <a:r>
              <a:rPr lang="hu-HU" dirty="0" err="1"/>
              <a:t>float</a:t>
            </a:r>
            <a:r>
              <a:rPr lang="hu-HU" dirty="0"/>
              <a:t> típus</a:t>
            </a:r>
          </a:p>
          <a:p>
            <a:r>
              <a:rPr lang="hu-HU" dirty="0"/>
              <a:t>A </a:t>
            </a:r>
            <a:r>
              <a:rPr lang="hu-HU" dirty="0" err="1"/>
              <a:t>float</a:t>
            </a:r>
            <a:r>
              <a:rPr lang="hu-HU" dirty="0"/>
              <a:t> típus értékkészlete</a:t>
            </a:r>
          </a:p>
          <a:p>
            <a:r>
              <a:rPr lang="hu-HU" dirty="0"/>
              <a:t>Aritmetikai operátorok</a:t>
            </a:r>
          </a:p>
          <a:p>
            <a:r>
              <a:rPr lang="hu-HU" dirty="0"/>
              <a:t>Operátorok </a:t>
            </a:r>
            <a:r>
              <a:rPr lang="hu-HU" dirty="0" err="1"/>
              <a:t>precedencia</a:t>
            </a:r>
            <a:r>
              <a:rPr lang="hu-HU" dirty="0"/>
              <a:t> szabályai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2530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E45071-3E91-3975-958C-43782E39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Alap adattípusok, operátorok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52A367-7627-7B81-0E00-66AB83DC9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0506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9">
            <a:extLst>
              <a:ext uri="{FF2B5EF4-FFF2-40B4-BE49-F238E27FC236}">
                <a16:creationId xmlns:a16="http://schemas.microsoft.com/office/drawing/2014/main" id="{026B303C-F00B-C202-DACD-409846B5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Alap adattípusok, operátorok</a:t>
            </a:r>
          </a:p>
        </p:txBody>
      </p:sp>
      <p:sp>
        <p:nvSpPr>
          <p:cNvPr id="11" name="Tartalom helye 10">
            <a:extLst>
              <a:ext uri="{FF2B5EF4-FFF2-40B4-BE49-F238E27FC236}">
                <a16:creationId xmlns:a16="http://schemas.microsoft.com/office/drawing/2014/main" id="{1304DAAD-A571-195A-29C9-8BA795B1C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hu-HU" dirty="0"/>
              <a:t>Változók létrehozása, az értékadó operátor</a:t>
            </a:r>
          </a:p>
          <a:p>
            <a:r>
              <a:rPr lang="hu-HU" dirty="0"/>
              <a:t>A nyelv foglalt szavai, foglalt szavak listája</a:t>
            </a:r>
          </a:p>
          <a:p>
            <a:r>
              <a:rPr lang="hu-HU" dirty="0"/>
              <a:t>Névadási konvenciók</a:t>
            </a:r>
          </a:p>
          <a:p>
            <a:r>
              <a:rPr lang="hu-HU" dirty="0" err="1"/>
              <a:t>Módosíthatatlanság</a:t>
            </a:r>
            <a:r>
              <a:rPr lang="hu-HU" dirty="0"/>
              <a:t>  (</a:t>
            </a:r>
            <a:r>
              <a:rPr lang="hu-HU" dirty="0" err="1"/>
              <a:t>immutability</a:t>
            </a:r>
            <a:r>
              <a:rPr lang="hu-HU" dirty="0"/>
              <a:t>)</a:t>
            </a:r>
          </a:p>
          <a:p>
            <a:r>
              <a:rPr lang="hu-HU" dirty="0"/>
              <a:t>Operátorok, operandus, kifejezés, utasítás</a:t>
            </a:r>
          </a:p>
          <a:p>
            <a:r>
              <a:rPr lang="hu-HU" dirty="0"/>
              <a:t>statikus és dinamikus típusosság</a:t>
            </a:r>
          </a:p>
          <a:p>
            <a:r>
              <a:rPr lang="hu-HU" dirty="0"/>
              <a:t>explicit és implicit típusmegadás</a:t>
            </a:r>
          </a:p>
          <a:p>
            <a:r>
              <a:rPr lang="hu-HU" dirty="0"/>
              <a:t>statikus, dinamikus, explicit, implicit variációk</a:t>
            </a:r>
          </a:p>
          <a:p>
            <a:r>
              <a:rPr lang="hu-HU" dirty="0"/>
              <a:t>Összevont operátor</a:t>
            </a:r>
          </a:p>
          <a:p>
            <a:r>
              <a:rPr lang="hu-HU" dirty="0"/>
              <a:t>Típus konverzió</a:t>
            </a:r>
          </a:p>
          <a:p>
            <a:r>
              <a:rPr lang="hu-HU" dirty="0"/>
              <a:t>Adatok bekérése a felhasználótól</a:t>
            </a:r>
          </a:p>
          <a:p>
            <a:r>
              <a:rPr lang="hu-HU" dirty="0"/>
              <a:t>Az </a:t>
            </a:r>
            <a:r>
              <a:rPr lang="hu-HU" dirty="0" err="1"/>
              <a:t>str</a:t>
            </a:r>
            <a:r>
              <a:rPr lang="hu-HU" dirty="0"/>
              <a:t> (szöveges) típus, Aposztróf, időzőjel, </a:t>
            </a:r>
            <a:r>
              <a:rPr lang="hu-HU" dirty="0" err="1"/>
              <a:t>escape-elés</a:t>
            </a:r>
            <a:endParaRPr lang="hu-HU" dirty="0"/>
          </a:p>
          <a:p>
            <a:r>
              <a:rPr lang="hu-HU" dirty="0"/>
              <a:t>Többsoros </a:t>
            </a:r>
            <a:r>
              <a:rPr lang="hu-HU" dirty="0" err="1"/>
              <a:t>string</a:t>
            </a:r>
            <a:endParaRPr lang="hu-HU" dirty="0"/>
          </a:p>
          <a:p>
            <a:r>
              <a:rPr lang="hu-HU" dirty="0"/>
              <a:t>Formázott szövegek</a:t>
            </a:r>
          </a:p>
          <a:p>
            <a:r>
              <a:rPr lang="hu-HU" dirty="0"/>
              <a:t>Formázott szövegek (f </a:t>
            </a:r>
            <a:r>
              <a:rPr lang="hu-HU" dirty="0" err="1"/>
              <a:t>string</a:t>
            </a:r>
            <a:r>
              <a:rPr lang="hu-HU" dirty="0"/>
              <a:t>, r </a:t>
            </a:r>
            <a:r>
              <a:rPr lang="hu-HU" dirty="0" err="1"/>
              <a:t>string</a:t>
            </a:r>
            <a:r>
              <a:rPr lang="hu-HU" dirty="0"/>
              <a:t>)</a:t>
            </a:r>
          </a:p>
          <a:p>
            <a:r>
              <a:rPr lang="hu-HU" dirty="0" err="1"/>
              <a:t>String</a:t>
            </a:r>
            <a:r>
              <a:rPr lang="hu-HU" dirty="0"/>
              <a:t> tulajdonságok és metódusok</a:t>
            </a:r>
          </a:p>
        </p:txBody>
      </p:sp>
    </p:spTree>
    <p:extLst>
      <p:ext uri="{BB962C8B-B14F-4D97-AF65-F5344CB8AC3E}">
        <p14:creationId xmlns:p14="http://schemas.microsoft.com/office/powerpoint/2010/main" val="1675522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E45071-3E91-3975-958C-43782E39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list</a:t>
            </a:r>
            <a:r>
              <a:rPr lang="hu-HU" dirty="0"/>
              <a:t> konténer típus, ciklusok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52A367-7627-7B81-0E00-66AB83DC9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7733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9">
            <a:extLst>
              <a:ext uri="{FF2B5EF4-FFF2-40B4-BE49-F238E27FC236}">
                <a16:creationId xmlns:a16="http://schemas.microsoft.com/office/drawing/2014/main" id="{026B303C-F00B-C202-DACD-409846B5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A </a:t>
            </a:r>
            <a:r>
              <a:rPr lang="hu-HU" dirty="0" err="1"/>
              <a:t>list</a:t>
            </a:r>
            <a:r>
              <a:rPr lang="hu-HU" dirty="0"/>
              <a:t> konténer típus, ciklusok</a:t>
            </a:r>
          </a:p>
        </p:txBody>
      </p:sp>
      <p:sp>
        <p:nvSpPr>
          <p:cNvPr id="11" name="Tartalom helye 10">
            <a:extLst>
              <a:ext uri="{FF2B5EF4-FFF2-40B4-BE49-F238E27FC236}">
                <a16:creationId xmlns:a16="http://schemas.microsoft.com/office/drawing/2014/main" id="{1304DAAD-A571-195A-29C9-8BA795B1C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/>
              <a:t>Listák létrehozása</a:t>
            </a:r>
          </a:p>
          <a:p>
            <a:r>
              <a:rPr lang="hu-HU" dirty="0"/>
              <a:t>Listák: elérés index alapján</a:t>
            </a:r>
          </a:p>
          <a:p>
            <a:r>
              <a:rPr lang="hu-HU" dirty="0"/>
              <a:t>Listák: aritmetikai operátorok</a:t>
            </a:r>
          </a:p>
          <a:p>
            <a:r>
              <a:rPr lang="hu-HU" dirty="0"/>
              <a:t>Listák </a:t>
            </a:r>
            <a:r>
              <a:rPr lang="hu-HU" dirty="0" err="1"/>
              <a:t>firssítése</a:t>
            </a:r>
            <a:endParaRPr lang="hu-HU" dirty="0"/>
          </a:p>
          <a:p>
            <a:r>
              <a:rPr lang="hu-HU" dirty="0"/>
              <a:t>Listák egyéb metódusai</a:t>
            </a:r>
          </a:p>
          <a:p>
            <a:r>
              <a:rPr lang="hu-HU" dirty="0"/>
              <a:t>Objektum Referencia szerinti átadás módosíthatatlan objektumok esetében</a:t>
            </a:r>
          </a:p>
          <a:p>
            <a:r>
              <a:rPr lang="hu-HU" dirty="0"/>
              <a:t>Objektum Referencia szerinti átadás módosítható objektumok esetében</a:t>
            </a:r>
          </a:p>
          <a:p>
            <a:r>
              <a:rPr lang="hu-HU" dirty="0"/>
              <a:t>Listák másolása: a </a:t>
            </a:r>
            <a:r>
              <a:rPr lang="hu-HU" dirty="0" err="1"/>
              <a:t>copy</a:t>
            </a:r>
            <a:r>
              <a:rPr lang="hu-HU" dirty="0"/>
              <a:t>() metódus, memóriacímek</a:t>
            </a:r>
          </a:p>
          <a:p>
            <a:r>
              <a:rPr lang="hu-HU" dirty="0"/>
              <a:t>Az in operátor</a:t>
            </a:r>
          </a:p>
          <a:p>
            <a:r>
              <a:rPr lang="hu-HU" dirty="0"/>
              <a:t>A </a:t>
            </a:r>
            <a:r>
              <a:rPr lang="hu-HU" dirty="0" err="1"/>
              <a:t>for</a:t>
            </a:r>
            <a:r>
              <a:rPr lang="hu-HU" dirty="0"/>
              <a:t> ciklus, Behúzás alapú szintaxis</a:t>
            </a:r>
          </a:p>
          <a:p>
            <a:r>
              <a:rPr lang="hu-HU" dirty="0"/>
              <a:t>A </a:t>
            </a:r>
            <a:r>
              <a:rPr lang="hu-HU" dirty="0" err="1"/>
              <a:t>range</a:t>
            </a:r>
            <a:r>
              <a:rPr lang="hu-HU" dirty="0"/>
              <a:t>() függvény</a:t>
            </a:r>
          </a:p>
          <a:p>
            <a:r>
              <a:rPr lang="hu-HU" dirty="0"/>
              <a:t>A </a:t>
            </a:r>
            <a:r>
              <a:rPr lang="hu-HU" dirty="0" err="1"/>
              <a:t>range</a:t>
            </a:r>
            <a:r>
              <a:rPr lang="hu-HU" dirty="0"/>
              <a:t>() függvény paraméter listája</a:t>
            </a:r>
          </a:p>
          <a:p>
            <a:r>
              <a:rPr lang="hu-HU" dirty="0"/>
              <a:t>Listák bejárása </a:t>
            </a:r>
            <a:r>
              <a:rPr lang="hu-HU" dirty="0" err="1"/>
              <a:t>for</a:t>
            </a:r>
            <a:r>
              <a:rPr lang="hu-HU" dirty="0"/>
              <a:t> ciklussal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64163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E45071-3E91-3975-958C-43782E39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if</a:t>
            </a:r>
            <a:r>
              <a:rPr lang="hu-HU" dirty="0"/>
              <a:t> </a:t>
            </a:r>
            <a:r>
              <a:rPr lang="hu-HU" dirty="0" err="1"/>
              <a:t>else</a:t>
            </a:r>
            <a:r>
              <a:rPr lang="hu-HU" dirty="0"/>
              <a:t> vezérlési szerkezet, vezérlési szerkezetek egymásba ágyazása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52A367-7627-7B81-0E00-66AB83DC9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26009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9">
            <a:extLst>
              <a:ext uri="{FF2B5EF4-FFF2-40B4-BE49-F238E27FC236}">
                <a16:creationId xmlns:a16="http://schemas.microsoft.com/office/drawing/2014/main" id="{026B303C-F00B-C202-DACD-409846B5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if</a:t>
            </a:r>
            <a:r>
              <a:rPr lang="hu-HU" dirty="0"/>
              <a:t> </a:t>
            </a:r>
            <a:r>
              <a:rPr lang="hu-HU" dirty="0" err="1"/>
              <a:t>else</a:t>
            </a:r>
            <a:r>
              <a:rPr lang="hu-HU" dirty="0"/>
              <a:t> vezérlési szerkezet, vezérlési szerkezetek egymásba ágyazása</a:t>
            </a:r>
          </a:p>
        </p:txBody>
      </p:sp>
      <p:sp>
        <p:nvSpPr>
          <p:cNvPr id="11" name="Tartalom helye 10">
            <a:extLst>
              <a:ext uri="{FF2B5EF4-FFF2-40B4-BE49-F238E27FC236}">
                <a16:creationId xmlns:a16="http://schemas.microsoft.com/office/drawing/2014/main" id="{1304DAAD-A571-195A-29C9-8BA795B1C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/>
              <a:t>A </a:t>
            </a:r>
            <a:r>
              <a:rPr lang="hu-HU" dirty="0" err="1"/>
              <a:t>bool</a:t>
            </a:r>
            <a:r>
              <a:rPr lang="hu-HU" dirty="0"/>
              <a:t>, logikai típus</a:t>
            </a:r>
          </a:p>
          <a:p>
            <a:r>
              <a:rPr lang="hu-HU" dirty="0"/>
              <a:t>Feltételes szerkezet: </a:t>
            </a:r>
            <a:r>
              <a:rPr lang="hu-HU" dirty="0" err="1"/>
              <a:t>if</a:t>
            </a:r>
            <a:r>
              <a:rPr lang="hu-HU" dirty="0"/>
              <a:t>, </a:t>
            </a:r>
            <a:r>
              <a:rPr lang="hu-HU" dirty="0" err="1"/>
              <a:t>else</a:t>
            </a:r>
            <a:endParaRPr lang="hu-HU" dirty="0"/>
          </a:p>
          <a:p>
            <a:r>
              <a:rPr lang="hu-HU" dirty="0"/>
              <a:t>Az </a:t>
            </a:r>
            <a:r>
              <a:rPr lang="hu-HU" dirty="0" err="1"/>
              <a:t>elif</a:t>
            </a:r>
            <a:r>
              <a:rPr lang="hu-HU" dirty="0"/>
              <a:t> ág</a:t>
            </a:r>
          </a:p>
          <a:p>
            <a:r>
              <a:rPr lang="hu-HU" dirty="0"/>
              <a:t>Ciklusok és elágazások együttes használata</a:t>
            </a:r>
          </a:p>
          <a:p>
            <a:r>
              <a:rPr lang="hu-HU" dirty="0"/>
              <a:t>Összetett feltételek, az and </a:t>
            </a:r>
            <a:r>
              <a:rPr lang="hu-HU" dirty="0" err="1"/>
              <a:t>ooperátor</a:t>
            </a:r>
            <a:endParaRPr lang="hu-HU" dirty="0"/>
          </a:p>
          <a:p>
            <a:r>
              <a:rPr lang="hu-HU" dirty="0"/>
              <a:t>Összetett feltételek, az </a:t>
            </a:r>
            <a:r>
              <a:rPr lang="hu-HU" dirty="0" err="1"/>
              <a:t>or</a:t>
            </a:r>
            <a:r>
              <a:rPr lang="hu-HU" dirty="0"/>
              <a:t> </a:t>
            </a:r>
            <a:r>
              <a:rPr lang="hu-HU" dirty="0" err="1"/>
              <a:t>ooperátor</a:t>
            </a:r>
            <a:endParaRPr lang="hu-HU" dirty="0"/>
          </a:p>
          <a:p>
            <a:r>
              <a:rPr lang="hu-HU" dirty="0"/>
              <a:t>Az and és </a:t>
            </a:r>
            <a:r>
              <a:rPr lang="hu-HU" dirty="0" err="1"/>
              <a:t>or</a:t>
            </a:r>
            <a:r>
              <a:rPr lang="hu-HU" dirty="0"/>
              <a:t> </a:t>
            </a:r>
            <a:r>
              <a:rPr lang="hu-HU" dirty="0" err="1"/>
              <a:t>opertorok</a:t>
            </a:r>
            <a:r>
              <a:rPr lang="hu-HU" dirty="0"/>
              <a:t> együttes használata, </a:t>
            </a:r>
            <a:r>
              <a:rPr lang="hu-HU" dirty="0" err="1"/>
              <a:t>precedencia</a:t>
            </a:r>
            <a:endParaRPr lang="hu-HU" dirty="0"/>
          </a:p>
          <a:p>
            <a:r>
              <a:rPr lang="hu-HU" dirty="0"/>
              <a:t>Az is operátor</a:t>
            </a:r>
          </a:p>
          <a:p>
            <a:r>
              <a:rPr lang="hu-HU" dirty="0"/>
              <a:t>A </a:t>
            </a:r>
            <a:r>
              <a:rPr lang="hu-HU" dirty="0" err="1"/>
              <a:t>break</a:t>
            </a:r>
            <a:r>
              <a:rPr lang="hu-HU" dirty="0"/>
              <a:t> utasítás</a:t>
            </a:r>
          </a:p>
          <a:p>
            <a:r>
              <a:rPr lang="hu-HU" dirty="0"/>
              <a:t>A </a:t>
            </a:r>
            <a:r>
              <a:rPr lang="hu-HU" dirty="0" err="1"/>
              <a:t>continue</a:t>
            </a:r>
            <a:r>
              <a:rPr lang="hu-HU" dirty="0"/>
              <a:t> utasítás</a:t>
            </a:r>
          </a:p>
          <a:p>
            <a:r>
              <a:rPr lang="hu-HU" dirty="0"/>
              <a:t>Mátrixok</a:t>
            </a:r>
          </a:p>
          <a:p>
            <a:r>
              <a:rPr lang="hu-HU" dirty="0"/>
              <a:t>A </a:t>
            </a:r>
            <a:r>
              <a:rPr lang="hu-HU" dirty="0" err="1"/>
              <a:t>while</a:t>
            </a:r>
            <a:r>
              <a:rPr lang="hu-HU" dirty="0"/>
              <a:t> ciklus</a:t>
            </a:r>
          </a:p>
          <a:p>
            <a:r>
              <a:rPr lang="hu-HU" dirty="0"/>
              <a:t>Végtelen ciklusok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49711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E45071-3E91-3975-958C-43782E39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Listák kezelésének haladó technikái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52A367-7627-7B81-0E00-66AB83DC9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20139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9">
            <a:extLst>
              <a:ext uri="{FF2B5EF4-FFF2-40B4-BE49-F238E27FC236}">
                <a16:creationId xmlns:a16="http://schemas.microsoft.com/office/drawing/2014/main" id="{026B303C-F00B-C202-DACD-409846B5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Listák kezelésének haladó technikái</a:t>
            </a:r>
          </a:p>
        </p:txBody>
      </p:sp>
      <p:sp>
        <p:nvSpPr>
          <p:cNvPr id="11" name="Tartalom helye 10">
            <a:extLst>
              <a:ext uri="{FF2B5EF4-FFF2-40B4-BE49-F238E27FC236}">
                <a16:creationId xmlns:a16="http://schemas.microsoft.com/office/drawing/2014/main" id="{1304DAAD-A571-195A-29C9-8BA795B1C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Lista részhalmazának lekérdezése: </a:t>
            </a:r>
            <a:r>
              <a:rPr lang="hu-HU" dirty="0" err="1"/>
              <a:t>slicing</a:t>
            </a:r>
            <a:endParaRPr lang="hu-HU" dirty="0"/>
          </a:p>
          <a:p>
            <a:r>
              <a:rPr lang="hu-HU" dirty="0"/>
              <a:t>Lista másolása </a:t>
            </a:r>
            <a:r>
              <a:rPr lang="hu-HU" dirty="0" err="1"/>
              <a:t>slicinggal</a:t>
            </a:r>
            <a:endParaRPr lang="hu-HU" dirty="0"/>
          </a:p>
          <a:p>
            <a:r>
              <a:rPr lang="hu-HU" dirty="0" err="1"/>
              <a:t>Comprehension</a:t>
            </a:r>
            <a:endParaRPr lang="hu-HU" dirty="0"/>
          </a:p>
          <a:p>
            <a:r>
              <a:rPr lang="hu-HU" dirty="0" err="1"/>
              <a:t>Comprehension</a:t>
            </a:r>
            <a:r>
              <a:rPr lang="hu-HU" dirty="0"/>
              <a:t> </a:t>
            </a:r>
            <a:r>
              <a:rPr lang="hu-HU" dirty="0" err="1"/>
              <a:t>if</a:t>
            </a:r>
            <a:endParaRPr lang="hu-HU" dirty="0"/>
          </a:p>
          <a:p>
            <a:r>
              <a:rPr lang="hu-HU" dirty="0" err="1"/>
              <a:t>Comprehension</a:t>
            </a:r>
            <a:r>
              <a:rPr lang="hu-HU" dirty="0"/>
              <a:t> </a:t>
            </a:r>
            <a:r>
              <a:rPr lang="hu-HU" dirty="0" err="1"/>
              <a:t>nested</a:t>
            </a:r>
            <a:r>
              <a:rPr lang="hu-HU" dirty="0"/>
              <a:t> </a:t>
            </a:r>
            <a:r>
              <a:rPr lang="hu-HU" dirty="0" err="1"/>
              <a:t>list</a:t>
            </a:r>
            <a:endParaRPr lang="hu-HU" dirty="0"/>
          </a:p>
          <a:p>
            <a:r>
              <a:rPr lang="hu-HU" dirty="0" err="1"/>
              <a:t>Mutiple</a:t>
            </a:r>
            <a:r>
              <a:rPr lang="hu-HU" dirty="0"/>
              <a:t> </a:t>
            </a:r>
            <a:r>
              <a:rPr lang="hu-HU" dirty="0" err="1"/>
              <a:t>assignement</a:t>
            </a:r>
            <a:endParaRPr lang="hu-HU" dirty="0"/>
          </a:p>
          <a:p>
            <a:r>
              <a:rPr lang="hu-HU" dirty="0" err="1"/>
              <a:t>unpacking</a:t>
            </a:r>
            <a:r>
              <a:rPr lang="hu-HU" dirty="0"/>
              <a:t>, adatok elcserélése</a:t>
            </a:r>
          </a:p>
          <a:p>
            <a:r>
              <a:rPr lang="hu-HU" dirty="0" err="1"/>
              <a:t>string</a:t>
            </a:r>
            <a:r>
              <a:rPr lang="hu-HU" dirty="0"/>
              <a:t> </a:t>
            </a:r>
            <a:r>
              <a:rPr lang="hu-HU" dirty="0" err="1"/>
              <a:t>unpacking</a:t>
            </a:r>
            <a:endParaRPr lang="hu-HU" dirty="0"/>
          </a:p>
          <a:p>
            <a:r>
              <a:rPr lang="hu-HU" dirty="0"/>
              <a:t>List </a:t>
            </a:r>
            <a:r>
              <a:rPr lang="hu-HU" dirty="0" err="1"/>
              <a:t>unpacking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15569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E45071-3E91-3975-958C-43782E39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Függvények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52A367-7627-7B81-0E00-66AB83DC9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83259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9">
            <a:extLst>
              <a:ext uri="{FF2B5EF4-FFF2-40B4-BE49-F238E27FC236}">
                <a16:creationId xmlns:a16="http://schemas.microsoft.com/office/drawing/2014/main" id="{026B303C-F00B-C202-DACD-409846B5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Függvények</a:t>
            </a:r>
          </a:p>
        </p:txBody>
      </p:sp>
      <p:sp>
        <p:nvSpPr>
          <p:cNvPr id="11" name="Tartalom helye 10">
            <a:extLst>
              <a:ext uri="{FF2B5EF4-FFF2-40B4-BE49-F238E27FC236}">
                <a16:creationId xmlns:a16="http://schemas.microsoft.com/office/drawing/2014/main" id="{1304DAAD-A571-195A-29C9-8BA795B1C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/>
              <a:t>Függvények, eddigi függvények, a globálisan elérhető függvények listája</a:t>
            </a:r>
          </a:p>
          <a:p>
            <a:r>
              <a:rPr lang="hu-HU" dirty="0"/>
              <a:t>Függvények létrehozása, </a:t>
            </a:r>
          </a:p>
          <a:p>
            <a:r>
              <a:rPr lang="hu-HU" dirty="0"/>
              <a:t>Függvény paraméterek</a:t>
            </a:r>
          </a:p>
          <a:p>
            <a:r>
              <a:rPr lang="hu-HU" dirty="0"/>
              <a:t>Függvények visszatérési értéke</a:t>
            </a:r>
          </a:p>
          <a:p>
            <a:r>
              <a:rPr lang="hu-HU" dirty="0"/>
              <a:t>Több paraméter használata, sorrendiség</a:t>
            </a:r>
          </a:p>
          <a:p>
            <a:r>
              <a:rPr lang="hu-HU" dirty="0"/>
              <a:t>Nevesített paraméterek</a:t>
            </a:r>
          </a:p>
          <a:p>
            <a:r>
              <a:rPr lang="hu-HU" dirty="0"/>
              <a:t>A </a:t>
            </a:r>
            <a:r>
              <a:rPr lang="hu-HU" dirty="0" err="1"/>
              <a:t>None</a:t>
            </a:r>
            <a:r>
              <a:rPr lang="hu-HU" dirty="0"/>
              <a:t> típus</a:t>
            </a:r>
          </a:p>
          <a:p>
            <a:r>
              <a:rPr lang="hu-HU" dirty="0"/>
              <a:t>Paraméterek alapértelmezett értéke</a:t>
            </a:r>
          </a:p>
          <a:p>
            <a:r>
              <a:rPr lang="hu-HU" dirty="0"/>
              <a:t>Globális változók módosítása függvényből</a:t>
            </a:r>
          </a:p>
          <a:p>
            <a:r>
              <a:rPr lang="hu-HU" dirty="0"/>
              <a:t>A </a:t>
            </a:r>
            <a:r>
              <a:rPr lang="hu-HU" dirty="0" err="1"/>
              <a:t>global</a:t>
            </a:r>
            <a:r>
              <a:rPr lang="hu-HU" dirty="0"/>
              <a:t> kulcsszó</a:t>
            </a:r>
          </a:p>
          <a:p>
            <a:r>
              <a:rPr lang="hu-HU" dirty="0"/>
              <a:t>A </a:t>
            </a:r>
            <a:r>
              <a:rPr lang="hu-HU" dirty="0" err="1"/>
              <a:t>pass</a:t>
            </a:r>
            <a:r>
              <a:rPr lang="hu-HU" dirty="0"/>
              <a:t> utasítás</a:t>
            </a:r>
          </a:p>
          <a:p>
            <a:r>
              <a:rPr lang="hu-HU" dirty="0"/>
              <a:t>Lokális változók hatóköre, élettartama</a:t>
            </a:r>
          </a:p>
          <a:p>
            <a:r>
              <a:rPr lang="hu-HU" dirty="0" err="1"/>
              <a:t>Garbage</a:t>
            </a:r>
            <a:r>
              <a:rPr lang="hu-HU" dirty="0"/>
              <a:t> </a:t>
            </a:r>
            <a:r>
              <a:rPr lang="hu-HU" dirty="0" err="1"/>
              <a:t>collector</a:t>
            </a:r>
            <a:r>
              <a:rPr lang="hu-HU" dirty="0"/>
              <a:t>, körkörös hivatkozások</a:t>
            </a:r>
          </a:p>
          <a:p>
            <a:r>
              <a:rPr lang="hu-HU" dirty="0" err="1"/>
              <a:t>Reference</a:t>
            </a:r>
            <a:r>
              <a:rPr lang="hu-HU" dirty="0"/>
              <a:t> </a:t>
            </a:r>
            <a:r>
              <a:rPr lang="hu-HU" dirty="0" err="1"/>
              <a:t>counter</a:t>
            </a:r>
            <a:r>
              <a:rPr lang="hu-HU" dirty="0"/>
              <a:t> – referencia számlálás</a:t>
            </a:r>
          </a:p>
          <a:p>
            <a:r>
              <a:rPr lang="hu-HU" dirty="0"/>
              <a:t>Hibakeresés (</a:t>
            </a:r>
            <a:r>
              <a:rPr lang="hu-HU" dirty="0" err="1"/>
              <a:t>debuggolás</a:t>
            </a:r>
            <a:r>
              <a:rPr lang="hu-HU" dirty="0"/>
              <a:t>), szintaktikai és szemantikai hibák</a:t>
            </a:r>
          </a:p>
        </p:txBody>
      </p:sp>
    </p:spTree>
    <p:extLst>
      <p:ext uri="{BB962C8B-B14F-4D97-AF65-F5344CB8AC3E}">
        <p14:creationId xmlns:p14="http://schemas.microsoft.com/office/powerpoint/2010/main" val="4012319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E45071-3E91-3975-958C-43782E39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Nevezetes algoritmusok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52A367-7627-7B81-0E00-66AB83DC9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02561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9">
            <a:extLst>
              <a:ext uri="{FF2B5EF4-FFF2-40B4-BE49-F238E27FC236}">
                <a16:creationId xmlns:a16="http://schemas.microsoft.com/office/drawing/2014/main" id="{026B303C-F00B-C202-DACD-409846B5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Nevezetes algoritmusok</a:t>
            </a:r>
          </a:p>
        </p:txBody>
      </p:sp>
      <p:sp>
        <p:nvSpPr>
          <p:cNvPr id="11" name="Tartalom helye 10">
            <a:extLst>
              <a:ext uri="{FF2B5EF4-FFF2-40B4-BE49-F238E27FC236}">
                <a16:creationId xmlns:a16="http://schemas.microsoft.com/office/drawing/2014/main" id="{1304DAAD-A571-195A-29C9-8BA795B1C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minimum kiválasztás</a:t>
            </a:r>
          </a:p>
          <a:p>
            <a:r>
              <a:rPr lang="hu-HU" dirty="0"/>
              <a:t>maximum kiválasztás</a:t>
            </a:r>
          </a:p>
          <a:p>
            <a:r>
              <a:rPr lang="hu-HU" dirty="0"/>
              <a:t>összegzés</a:t>
            </a:r>
          </a:p>
          <a:p>
            <a:r>
              <a:rPr lang="hu-HU" dirty="0"/>
              <a:t>átlag</a:t>
            </a:r>
          </a:p>
          <a:p>
            <a:r>
              <a:rPr lang="hu-HU" dirty="0"/>
              <a:t>számlálás</a:t>
            </a:r>
          </a:p>
          <a:p>
            <a:r>
              <a:rPr lang="hu-HU" dirty="0"/>
              <a:t>kiválasztás</a:t>
            </a:r>
          </a:p>
          <a:p>
            <a:r>
              <a:rPr lang="hu-HU" dirty="0"/>
              <a:t>eldöntés</a:t>
            </a:r>
          </a:p>
          <a:p>
            <a:r>
              <a:rPr lang="hu-HU" dirty="0"/>
              <a:t>lineáris keresés</a:t>
            </a:r>
          </a:p>
          <a:p>
            <a:r>
              <a:rPr lang="hu-HU" dirty="0"/>
              <a:t>buborékos rendezés</a:t>
            </a:r>
          </a:p>
        </p:txBody>
      </p:sp>
    </p:spTree>
    <p:extLst>
      <p:ext uri="{BB962C8B-B14F-4D97-AF65-F5344CB8AC3E}">
        <p14:creationId xmlns:p14="http://schemas.microsoft.com/office/powerpoint/2010/main" val="1829991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E45071-3E91-3975-958C-43782E39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tuple</a:t>
            </a:r>
            <a:r>
              <a:rPr lang="hu-HU" dirty="0"/>
              <a:t> és a </a:t>
            </a:r>
            <a:r>
              <a:rPr lang="hu-HU" dirty="0" err="1"/>
              <a:t>set</a:t>
            </a:r>
            <a:r>
              <a:rPr lang="hu-HU" dirty="0"/>
              <a:t> konténer típusok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52A367-7627-7B81-0E00-66AB83DC9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37708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9">
            <a:extLst>
              <a:ext uri="{FF2B5EF4-FFF2-40B4-BE49-F238E27FC236}">
                <a16:creationId xmlns:a16="http://schemas.microsoft.com/office/drawing/2014/main" id="{026B303C-F00B-C202-DACD-409846B5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A </a:t>
            </a:r>
            <a:r>
              <a:rPr lang="hu-HU" dirty="0" err="1"/>
              <a:t>tuple</a:t>
            </a:r>
            <a:r>
              <a:rPr lang="hu-HU" dirty="0"/>
              <a:t> és a </a:t>
            </a:r>
            <a:r>
              <a:rPr lang="hu-HU" dirty="0" err="1"/>
              <a:t>set</a:t>
            </a:r>
            <a:r>
              <a:rPr lang="hu-HU" dirty="0"/>
              <a:t> konténer típusok</a:t>
            </a:r>
          </a:p>
        </p:txBody>
      </p:sp>
      <p:sp>
        <p:nvSpPr>
          <p:cNvPr id="11" name="Tartalom helye 10">
            <a:extLst>
              <a:ext uri="{FF2B5EF4-FFF2-40B4-BE49-F238E27FC236}">
                <a16:creationId xmlns:a16="http://schemas.microsoft.com/office/drawing/2014/main" id="{1304DAAD-A571-195A-29C9-8BA795B1C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 </a:t>
            </a:r>
            <a:r>
              <a:rPr lang="hu-HU" dirty="0" err="1"/>
              <a:t>dict</a:t>
            </a:r>
            <a:r>
              <a:rPr lang="hu-HU" dirty="0"/>
              <a:t> típus, Műveletek </a:t>
            </a:r>
            <a:r>
              <a:rPr lang="hu-HU" dirty="0" err="1"/>
              <a:t>dict</a:t>
            </a:r>
            <a:r>
              <a:rPr lang="hu-HU" dirty="0"/>
              <a:t>-tel: módosítás index alapján, pop(), update(), </a:t>
            </a:r>
            <a:r>
              <a:rPr lang="hu-HU" dirty="0" err="1"/>
              <a:t>copy</a:t>
            </a:r>
            <a:r>
              <a:rPr lang="hu-HU" dirty="0"/>
              <a:t>(), </a:t>
            </a:r>
            <a:r>
              <a:rPr lang="hu-HU" dirty="0" err="1"/>
              <a:t>dict</a:t>
            </a:r>
            <a:r>
              <a:rPr lang="hu-HU" dirty="0"/>
              <a:t>()</a:t>
            </a:r>
          </a:p>
          <a:p>
            <a:r>
              <a:rPr lang="hu-HU" dirty="0"/>
              <a:t>A </a:t>
            </a:r>
            <a:r>
              <a:rPr lang="hu-HU" dirty="0" err="1"/>
              <a:t>keys</a:t>
            </a:r>
            <a:r>
              <a:rPr lang="hu-HU" dirty="0"/>
              <a:t>(), </a:t>
            </a:r>
            <a:r>
              <a:rPr lang="hu-HU" dirty="0" err="1"/>
              <a:t>values</a:t>
            </a:r>
            <a:r>
              <a:rPr lang="hu-HU" dirty="0"/>
              <a:t>(), </a:t>
            </a:r>
            <a:r>
              <a:rPr lang="hu-HU" dirty="0" err="1"/>
              <a:t>items</a:t>
            </a:r>
            <a:r>
              <a:rPr lang="hu-HU" dirty="0"/>
              <a:t>() metódusok és az </a:t>
            </a:r>
            <a:r>
              <a:rPr lang="hu-HU" dirty="0" err="1"/>
              <a:t>enumerate</a:t>
            </a:r>
            <a:r>
              <a:rPr lang="hu-HU" dirty="0"/>
              <a:t>() függvény</a:t>
            </a:r>
          </a:p>
          <a:p>
            <a:r>
              <a:rPr lang="hu-HU" dirty="0" err="1"/>
              <a:t>Dict</a:t>
            </a:r>
            <a:r>
              <a:rPr lang="hu-HU" dirty="0"/>
              <a:t> bejárása ciklussal</a:t>
            </a:r>
          </a:p>
          <a:p>
            <a:r>
              <a:rPr lang="hu-HU" dirty="0" err="1"/>
              <a:t>Dict</a:t>
            </a:r>
            <a:r>
              <a:rPr lang="hu-HU" dirty="0"/>
              <a:t> </a:t>
            </a:r>
            <a:r>
              <a:rPr lang="hu-HU" dirty="0" err="1"/>
              <a:t>unpacking</a:t>
            </a:r>
            <a:endParaRPr lang="hu-HU" dirty="0"/>
          </a:p>
          <a:p>
            <a:r>
              <a:rPr lang="hu-HU" dirty="0"/>
              <a:t>CRUD műveletek: </a:t>
            </a:r>
            <a:r>
              <a:rPr lang="hu-HU" dirty="0" err="1"/>
              <a:t>read</a:t>
            </a:r>
            <a:endParaRPr lang="hu-HU" dirty="0"/>
          </a:p>
          <a:p>
            <a:r>
              <a:rPr lang="hu-HU" dirty="0"/>
              <a:t>CRUD műveletek: update</a:t>
            </a:r>
          </a:p>
          <a:p>
            <a:r>
              <a:rPr lang="hu-HU" dirty="0"/>
              <a:t>CRUD műveletek: </a:t>
            </a:r>
            <a:r>
              <a:rPr lang="hu-HU" dirty="0" err="1"/>
              <a:t>create</a:t>
            </a:r>
            <a:endParaRPr lang="hu-HU" dirty="0"/>
          </a:p>
          <a:p>
            <a:r>
              <a:rPr lang="hu-HU" dirty="0"/>
              <a:t>CRUD műveletek: </a:t>
            </a:r>
            <a:r>
              <a:rPr lang="hu-HU" dirty="0" err="1"/>
              <a:t>delete</a:t>
            </a:r>
            <a:endParaRPr lang="hu-HU" dirty="0"/>
          </a:p>
          <a:p>
            <a:r>
              <a:rPr lang="hu-HU" dirty="0"/>
              <a:t>CRUD: </a:t>
            </a:r>
            <a:r>
              <a:rPr lang="hu-HU" dirty="0" err="1"/>
              <a:t>újrafelhasználhatóvá</a:t>
            </a:r>
            <a:r>
              <a:rPr lang="hu-HU"/>
              <a:t> tétel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29063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E45071-3E91-3975-958C-43782E39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dict</a:t>
            </a:r>
            <a:r>
              <a:rPr lang="hu-HU" dirty="0"/>
              <a:t> konténer típus, CRUD műveletek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52A367-7627-7B81-0E00-66AB83DC9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77954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9">
            <a:extLst>
              <a:ext uri="{FF2B5EF4-FFF2-40B4-BE49-F238E27FC236}">
                <a16:creationId xmlns:a16="http://schemas.microsoft.com/office/drawing/2014/main" id="{026B303C-F00B-C202-DACD-409846B5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A </a:t>
            </a:r>
            <a:r>
              <a:rPr lang="hu-HU" dirty="0" err="1"/>
              <a:t>dict</a:t>
            </a:r>
            <a:r>
              <a:rPr lang="hu-HU" dirty="0"/>
              <a:t> konténer típus, CRUD műveletek</a:t>
            </a:r>
          </a:p>
        </p:txBody>
      </p:sp>
      <p:sp>
        <p:nvSpPr>
          <p:cNvPr id="11" name="Tartalom helye 10">
            <a:extLst>
              <a:ext uri="{FF2B5EF4-FFF2-40B4-BE49-F238E27FC236}">
                <a16:creationId xmlns:a16="http://schemas.microsoft.com/office/drawing/2014/main" id="{1304DAAD-A571-195A-29C9-8BA795B1C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dirty="0"/>
              <a:t>A </a:t>
            </a:r>
            <a:r>
              <a:rPr lang="hu-HU" dirty="0" err="1"/>
              <a:t>tuple</a:t>
            </a:r>
            <a:r>
              <a:rPr lang="hu-HU" dirty="0"/>
              <a:t> típus</a:t>
            </a:r>
          </a:p>
          <a:p>
            <a:r>
              <a:rPr lang="hu-HU" dirty="0"/>
              <a:t>A + operátor használata</a:t>
            </a:r>
          </a:p>
          <a:p>
            <a:r>
              <a:rPr lang="hu-HU" dirty="0"/>
              <a:t>Elem beszúrása </a:t>
            </a:r>
            <a:r>
              <a:rPr lang="hu-HU" dirty="0" err="1"/>
              <a:t>tuple</a:t>
            </a:r>
            <a:r>
              <a:rPr lang="hu-HU" dirty="0"/>
              <a:t>-be</a:t>
            </a:r>
          </a:p>
          <a:p>
            <a:r>
              <a:rPr lang="hu-HU" dirty="0" err="1"/>
              <a:t>Tuple</a:t>
            </a:r>
            <a:r>
              <a:rPr lang="hu-HU" dirty="0"/>
              <a:t> módosítása</a:t>
            </a:r>
          </a:p>
          <a:p>
            <a:r>
              <a:rPr lang="hu-HU" dirty="0" err="1"/>
              <a:t>Tuple</a:t>
            </a:r>
            <a:r>
              <a:rPr lang="hu-HU" dirty="0"/>
              <a:t> bejárása ciklussal</a:t>
            </a:r>
          </a:p>
          <a:p>
            <a:r>
              <a:rPr lang="hu-HU" dirty="0"/>
              <a:t>A </a:t>
            </a:r>
            <a:r>
              <a:rPr lang="hu-HU" dirty="0" err="1"/>
              <a:t>tuple</a:t>
            </a:r>
            <a:r>
              <a:rPr lang="hu-HU" dirty="0"/>
              <a:t> felhasználása valós életben</a:t>
            </a:r>
          </a:p>
          <a:p>
            <a:r>
              <a:rPr lang="hu-HU" dirty="0" err="1"/>
              <a:t>Tuple</a:t>
            </a:r>
            <a:r>
              <a:rPr lang="hu-HU" dirty="0"/>
              <a:t> </a:t>
            </a:r>
            <a:r>
              <a:rPr lang="hu-HU" dirty="0" err="1"/>
              <a:t>unpacking</a:t>
            </a:r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set</a:t>
            </a:r>
            <a:r>
              <a:rPr lang="hu-HU" dirty="0"/>
              <a:t> típus</a:t>
            </a:r>
          </a:p>
          <a:p>
            <a:r>
              <a:rPr lang="hu-HU" dirty="0" err="1"/>
              <a:t>Set</a:t>
            </a:r>
            <a:r>
              <a:rPr lang="hu-HU" dirty="0"/>
              <a:t> metódusok: add(), update(), </a:t>
            </a:r>
            <a:r>
              <a:rPr lang="hu-HU" dirty="0" err="1"/>
              <a:t>remove</a:t>
            </a:r>
            <a:r>
              <a:rPr lang="hu-HU" dirty="0"/>
              <a:t>(), </a:t>
            </a:r>
            <a:r>
              <a:rPr lang="hu-HU" dirty="0" err="1"/>
              <a:t>discard</a:t>
            </a:r>
            <a:r>
              <a:rPr lang="hu-HU" dirty="0"/>
              <a:t>()</a:t>
            </a:r>
          </a:p>
          <a:p>
            <a:r>
              <a:rPr lang="hu-HU" dirty="0"/>
              <a:t>Halmazműveletek: </a:t>
            </a:r>
            <a:r>
              <a:rPr lang="hu-HU" dirty="0" err="1"/>
              <a:t>union</a:t>
            </a:r>
            <a:r>
              <a:rPr lang="hu-HU" dirty="0"/>
              <a:t>(), </a:t>
            </a:r>
            <a:r>
              <a:rPr lang="hu-HU" dirty="0" err="1"/>
              <a:t>intersection</a:t>
            </a:r>
            <a:r>
              <a:rPr lang="hu-HU" dirty="0"/>
              <a:t>(), </a:t>
            </a:r>
            <a:r>
              <a:rPr lang="hu-HU" dirty="0" err="1"/>
              <a:t>difference</a:t>
            </a:r>
            <a:r>
              <a:rPr lang="hu-HU" dirty="0"/>
              <a:t>(), </a:t>
            </a:r>
            <a:r>
              <a:rPr lang="hu-HU" dirty="0" err="1"/>
              <a:t>issuperset</a:t>
            </a:r>
            <a:r>
              <a:rPr lang="hu-HU" dirty="0"/>
              <a:t>(), </a:t>
            </a:r>
            <a:r>
              <a:rPr lang="hu-HU" dirty="0" err="1"/>
              <a:t>issubset</a:t>
            </a:r>
            <a:r>
              <a:rPr lang="hu-HU" dirty="0"/>
              <a:t>()</a:t>
            </a:r>
          </a:p>
          <a:p>
            <a:r>
              <a:rPr lang="hu-HU" dirty="0" err="1"/>
              <a:t>Set</a:t>
            </a:r>
            <a:r>
              <a:rPr lang="hu-HU" dirty="0"/>
              <a:t> bejárása </a:t>
            </a:r>
            <a:r>
              <a:rPr lang="hu-HU" dirty="0" err="1"/>
              <a:t>for</a:t>
            </a:r>
            <a:r>
              <a:rPr lang="hu-HU" dirty="0"/>
              <a:t> ciklussal</a:t>
            </a:r>
          </a:p>
        </p:txBody>
      </p:sp>
    </p:spTree>
    <p:extLst>
      <p:ext uri="{BB962C8B-B14F-4D97-AF65-F5344CB8AC3E}">
        <p14:creationId xmlns:p14="http://schemas.microsoft.com/office/powerpoint/2010/main" val="3762969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E45071-3E91-3975-958C-43782E39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Python modulrendszere, standard </a:t>
            </a:r>
            <a:r>
              <a:rPr lang="hu-HU" dirty="0" err="1"/>
              <a:t>library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52A367-7627-7B81-0E00-66AB83DC9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653356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9">
            <a:extLst>
              <a:ext uri="{FF2B5EF4-FFF2-40B4-BE49-F238E27FC236}">
                <a16:creationId xmlns:a16="http://schemas.microsoft.com/office/drawing/2014/main" id="{026B303C-F00B-C202-DACD-409846B5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A Python modulrendszere, standard </a:t>
            </a:r>
            <a:r>
              <a:rPr lang="hu-HU" dirty="0" err="1"/>
              <a:t>library</a:t>
            </a:r>
            <a:endParaRPr lang="hu-HU" dirty="0"/>
          </a:p>
        </p:txBody>
      </p:sp>
      <p:sp>
        <p:nvSpPr>
          <p:cNvPr id="11" name="Tartalom helye 10">
            <a:extLst>
              <a:ext uri="{FF2B5EF4-FFF2-40B4-BE49-F238E27FC236}">
                <a16:creationId xmlns:a16="http://schemas.microsoft.com/office/drawing/2014/main" id="{1304DAAD-A571-195A-29C9-8BA795B1C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/>
              <a:t>A fájl, mint modul, Modulban attribútumai: változók, függvények és osztályok</a:t>
            </a:r>
          </a:p>
          <a:p>
            <a:r>
              <a:rPr lang="hu-HU" dirty="0"/>
              <a:t>Csomagok és névterek</a:t>
            </a:r>
          </a:p>
          <a:p>
            <a:r>
              <a:rPr lang="hu-HU" dirty="0"/>
              <a:t>Teljes modul importálása</a:t>
            </a:r>
          </a:p>
          <a:p>
            <a:r>
              <a:rPr lang="hu-HU" dirty="0"/>
              <a:t>Modul egy attribútumainak importálása</a:t>
            </a:r>
          </a:p>
          <a:p>
            <a:r>
              <a:rPr lang="hu-HU" dirty="0"/>
              <a:t>Modul minden attribútumainak importálása</a:t>
            </a:r>
          </a:p>
          <a:p>
            <a:r>
              <a:rPr lang="hu-HU" dirty="0"/>
              <a:t>A main modul</a:t>
            </a:r>
          </a:p>
          <a:p>
            <a:r>
              <a:rPr lang="hu-HU" dirty="0"/>
              <a:t>A </a:t>
            </a:r>
            <a:r>
              <a:rPr lang="hu-HU" dirty="0" err="1"/>
              <a:t>date</a:t>
            </a:r>
            <a:r>
              <a:rPr lang="hu-HU" dirty="0"/>
              <a:t> modul</a:t>
            </a:r>
          </a:p>
          <a:p>
            <a:r>
              <a:rPr lang="hu-HU" dirty="0"/>
              <a:t>A random modul</a:t>
            </a:r>
          </a:p>
          <a:p>
            <a:r>
              <a:rPr lang="hu-HU" dirty="0"/>
              <a:t>Az </a:t>
            </a:r>
            <a:r>
              <a:rPr lang="hu-HU" dirty="0" err="1"/>
              <a:t>os</a:t>
            </a:r>
            <a:r>
              <a:rPr lang="hu-HU" dirty="0"/>
              <a:t> modul</a:t>
            </a:r>
          </a:p>
          <a:p>
            <a:r>
              <a:rPr lang="hu-HU" dirty="0"/>
              <a:t>Modulok névütközése</a:t>
            </a:r>
          </a:p>
          <a:p>
            <a:r>
              <a:rPr lang="hu-HU" dirty="0"/>
              <a:t>Importálása más néven</a:t>
            </a:r>
          </a:p>
          <a:p>
            <a:r>
              <a:rPr lang="hu-HU" dirty="0"/>
              <a:t>Importálás csomagból</a:t>
            </a:r>
          </a:p>
          <a:p>
            <a:r>
              <a:rPr lang="hu-HU" dirty="0"/>
              <a:t>A </a:t>
            </a:r>
            <a:r>
              <a:rPr lang="hu-HU" dirty="0" err="1"/>
              <a:t>pip</a:t>
            </a:r>
            <a:r>
              <a:rPr lang="hu-HU" dirty="0"/>
              <a:t> csomagkezelő</a:t>
            </a:r>
          </a:p>
          <a:p>
            <a:r>
              <a:rPr lang="hu-HU" dirty="0"/>
              <a:t>A </a:t>
            </a:r>
            <a:r>
              <a:rPr lang="hu-HU" dirty="0" err="1"/>
              <a:t>pypi</a:t>
            </a:r>
            <a:r>
              <a:rPr lang="hu-HU" dirty="0"/>
              <a:t> oldal</a:t>
            </a:r>
          </a:p>
        </p:txBody>
      </p:sp>
    </p:spTree>
    <p:extLst>
      <p:ext uri="{BB962C8B-B14F-4D97-AF65-F5344CB8AC3E}">
        <p14:creationId xmlns:p14="http://schemas.microsoft.com/office/powerpoint/2010/main" val="1563335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E45071-3E91-3975-958C-43782E39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Fájlkezelés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52A367-7627-7B81-0E00-66AB83DC9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97157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9">
            <a:extLst>
              <a:ext uri="{FF2B5EF4-FFF2-40B4-BE49-F238E27FC236}">
                <a16:creationId xmlns:a16="http://schemas.microsoft.com/office/drawing/2014/main" id="{026B303C-F00B-C202-DACD-409846B5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Fájlkezelés</a:t>
            </a:r>
          </a:p>
        </p:txBody>
      </p:sp>
      <p:sp>
        <p:nvSpPr>
          <p:cNvPr id="11" name="Tartalom helye 10">
            <a:extLst>
              <a:ext uri="{FF2B5EF4-FFF2-40B4-BE49-F238E27FC236}">
                <a16:creationId xmlns:a16="http://schemas.microsoft.com/office/drawing/2014/main" id="{1304DAAD-A571-195A-29C9-8BA795B1C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Fájlok megnyitása, </a:t>
            </a:r>
            <a:r>
              <a:rPr lang="hu-HU" dirty="0" err="1"/>
              <a:t>jogosultásgok</a:t>
            </a:r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with</a:t>
            </a:r>
            <a:r>
              <a:rPr lang="hu-HU" dirty="0"/>
              <a:t> utasítás</a:t>
            </a:r>
          </a:p>
          <a:p>
            <a:r>
              <a:rPr lang="hu-HU" dirty="0"/>
              <a:t>A </a:t>
            </a:r>
            <a:r>
              <a:rPr lang="hu-HU" dirty="0" err="1"/>
              <a:t>with</a:t>
            </a:r>
            <a:r>
              <a:rPr lang="hu-HU" dirty="0"/>
              <a:t> utasítás nevesített paraméterekkel</a:t>
            </a:r>
          </a:p>
          <a:p>
            <a:r>
              <a:rPr lang="hu-HU" dirty="0"/>
              <a:t>Szöveges állományok: hozzáfűzés</a:t>
            </a:r>
          </a:p>
          <a:p>
            <a:r>
              <a:rPr lang="hu-HU" dirty="0"/>
              <a:t>Szöveges állományok törlése</a:t>
            </a:r>
          </a:p>
          <a:p>
            <a:r>
              <a:rPr lang="hu-HU" dirty="0"/>
              <a:t>Hasznos metódusok</a:t>
            </a:r>
          </a:p>
          <a:p>
            <a:r>
              <a:rPr lang="hu-HU" dirty="0"/>
              <a:t>Fájlok </a:t>
            </a:r>
            <a:r>
              <a:rPr lang="hu-HU" dirty="0" err="1"/>
              <a:t>tnevezeése</a:t>
            </a:r>
            <a:r>
              <a:rPr lang="hu-HU" dirty="0"/>
              <a:t>, áthelyezése</a:t>
            </a:r>
          </a:p>
          <a:p>
            <a:r>
              <a:rPr lang="hu-HU" dirty="0" err="1"/>
              <a:t>Mappkezelés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82535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E45071-3E91-3975-958C-43782E39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Összetett feladat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52A367-7627-7B81-0E00-66AB83DC9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04873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759</Words>
  <Application>Microsoft Office PowerPoint</Application>
  <PresentationFormat>Szélesvásznú</PresentationFormat>
  <Paragraphs>169</Paragraphs>
  <Slides>25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Office-téma</vt:lpstr>
      <vt:lpstr>Python alapok</vt:lpstr>
      <vt:lpstr>Miről lesz szó?</vt:lpstr>
      <vt:lpstr>A Python nyelv, fejlesztő környezet, számok és operátorok </vt:lpstr>
      <vt:lpstr>A Python nyelv, fejlesztő környezet, számok és operátorok</vt:lpstr>
      <vt:lpstr>Alap adattípusok, operátorok</vt:lpstr>
      <vt:lpstr>Alap adattípusok, operátorok</vt:lpstr>
      <vt:lpstr>A list konténer típus, ciklusok</vt:lpstr>
      <vt:lpstr>A list konténer típus, ciklusok</vt:lpstr>
      <vt:lpstr>if else vezérlési szerkezet, vezérlési szerkezetek egymásba ágyazása</vt:lpstr>
      <vt:lpstr>if else vezérlési szerkezet, vezérlési szerkezetek egymásba ágyazása</vt:lpstr>
      <vt:lpstr>Listák kezelésének haladó technikái</vt:lpstr>
      <vt:lpstr>Listák kezelésének haladó technikái</vt:lpstr>
      <vt:lpstr>Függvények</vt:lpstr>
      <vt:lpstr>Függvények</vt:lpstr>
      <vt:lpstr>Nevezetes algoritmusok</vt:lpstr>
      <vt:lpstr>Nevezetes algoritmusok</vt:lpstr>
      <vt:lpstr>A tuple és a set konténer típusok</vt:lpstr>
      <vt:lpstr>A tuple és a set konténer típusok</vt:lpstr>
      <vt:lpstr>A dict konténer típus, CRUD műveletek</vt:lpstr>
      <vt:lpstr>A dict konténer típus, CRUD műveletek</vt:lpstr>
      <vt:lpstr>A Python modulrendszere, standard library</vt:lpstr>
      <vt:lpstr>A Python modulrendszere, standard library</vt:lpstr>
      <vt:lpstr>Fájlkezelés</vt:lpstr>
      <vt:lpstr>Fájlkezelés</vt:lpstr>
      <vt:lpstr>Összetett feladat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alapok</dc:title>
  <dc:creator>Gergely Gáll</dc:creator>
  <cp:lastModifiedBy>Gergely Gáll</cp:lastModifiedBy>
  <cp:revision>13</cp:revision>
  <dcterms:created xsi:type="dcterms:W3CDTF">2023-06-20T07:45:01Z</dcterms:created>
  <dcterms:modified xsi:type="dcterms:W3CDTF">2023-06-20T08:11:05Z</dcterms:modified>
</cp:coreProperties>
</file>